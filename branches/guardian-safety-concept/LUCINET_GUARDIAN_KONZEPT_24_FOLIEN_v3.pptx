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e0fddb3124873" /><Relationship Type="http://schemas.openxmlformats.org/officeDocument/2006/relationships/extended-properties" Target="/docProps/app.xml" Id="R0e650ec5348b4fa5" /><Relationship Type="http://schemas.openxmlformats.org/officeDocument/2006/relationships/officeDocument" Target="/ppt/presentation.xml" Id="R003c5c05bb93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93e8c7e8884c91"/>
  </p:sldMasterIdLst>
  <p:notesMasterIdLst>
    <p:notesMasterId xmlns:r="http://schemas.openxmlformats.org/officeDocument/2006/relationships" r:id="Rc1eeaa3a54f44156"/>
  </p:notesMasterIdLst>
  <p:sldIdLst>
    <p:sldId xmlns:r="http://schemas.openxmlformats.org/officeDocument/2006/relationships" id="256" r:id="R18bdb26baf874873"/>
    <p:sldId xmlns:r="http://schemas.openxmlformats.org/officeDocument/2006/relationships" id="257" r:id="R0f27aae4727d4da7"/>
    <p:sldId xmlns:r="http://schemas.openxmlformats.org/officeDocument/2006/relationships" id="258" r:id="Rba2191fdaa094552"/>
    <p:sldId xmlns:r="http://schemas.openxmlformats.org/officeDocument/2006/relationships" id="259" r:id="Rfb6dee9645524e1f"/>
    <p:sldId xmlns:r="http://schemas.openxmlformats.org/officeDocument/2006/relationships" id="260" r:id="R1323737bcf4440a7"/>
    <p:sldId xmlns:r="http://schemas.openxmlformats.org/officeDocument/2006/relationships" id="261" r:id="R280e6875d38b408a"/>
    <p:sldId xmlns:r="http://schemas.openxmlformats.org/officeDocument/2006/relationships" id="262" r:id="Rdf98a8d5a11c4ab2"/>
    <p:sldId xmlns:r="http://schemas.openxmlformats.org/officeDocument/2006/relationships" id="263" r:id="Rba01c7ad28714248"/>
    <p:sldId xmlns:r="http://schemas.openxmlformats.org/officeDocument/2006/relationships" id="264" r:id="R097629f107bb4514"/>
    <p:sldId xmlns:r="http://schemas.openxmlformats.org/officeDocument/2006/relationships" id="265" r:id="Rdcf64e9891c84832"/>
    <p:sldId xmlns:r="http://schemas.openxmlformats.org/officeDocument/2006/relationships" id="266" r:id="Rf24a1dd2629a4687"/>
    <p:sldId xmlns:r="http://schemas.openxmlformats.org/officeDocument/2006/relationships" id="267" r:id="Rf714811ed158481d"/>
    <p:sldId xmlns:r="http://schemas.openxmlformats.org/officeDocument/2006/relationships" id="268" r:id="Rf9b0c5c6d5b94860"/>
    <p:sldId xmlns:r="http://schemas.openxmlformats.org/officeDocument/2006/relationships" id="269" r:id="R9601a7aa98904c2f"/>
    <p:sldId xmlns:r="http://schemas.openxmlformats.org/officeDocument/2006/relationships" id="270" r:id="R3c9044ca98f64e1d"/>
    <p:sldId xmlns:r="http://schemas.openxmlformats.org/officeDocument/2006/relationships" id="271" r:id="Ra252ff27beab42bd"/>
    <p:sldId xmlns:r="http://schemas.openxmlformats.org/officeDocument/2006/relationships" id="272" r:id="R4e2c036537214afd"/>
    <p:sldId xmlns:r="http://schemas.openxmlformats.org/officeDocument/2006/relationships" id="273" r:id="R4a1dfd7996274c11"/>
    <p:sldId xmlns:r="http://schemas.openxmlformats.org/officeDocument/2006/relationships" id="274" r:id="Rc30b88d3c2724e9e"/>
    <p:sldId xmlns:r="http://schemas.openxmlformats.org/officeDocument/2006/relationships" id="275" r:id="Re3edf5f600484b91"/>
    <p:sldId xmlns:r="http://schemas.openxmlformats.org/officeDocument/2006/relationships" id="276" r:id="R06c65bccfc524244"/>
    <p:sldId xmlns:r="http://schemas.openxmlformats.org/officeDocument/2006/relationships" id="277" r:id="R82ed7f3a82ce4a21"/>
    <p:sldId xmlns:r="http://schemas.openxmlformats.org/officeDocument/2006/relationships" id="278" r:id="R4645f9caf86a460a"/>
    <p:sldId xmlns:r="http://schemas.openxmlformats.org/officeDocument/2006/relationships" id="279" r:id="Redc336a8d82348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7558fd7e94b26" /><Relationship Type="http://schemas.openxmlformats.org/officeDocument/2006/relationships/slideMaster" Target="/ppt/slideMasters/slideMaster1.xml" Id="Rda93e8c7e8884c91" /><Relationship Type="http://schemas.openxmlformats.org/officeDocument/2006/relationships/notesMaster" Target="/ppt/notesMasters/notesMaster1.xml" Id="Rc1eeaa3a54f44156" /><Relationship Type="http://schemas.openxmlformats.org/officeDocument/2006/relationships/presProps" Target="/ppt/presProps.xml" Id="Rc57c177e03db4a6e" /><Relationship Type="http://schemas.openxmlformats.org/officeDocument/2006/relationships/tableStyles" Target="/ppt/tableStyles.xml" Id="R7e732a1fc03d473f" /><Relationship Type="http://schemas.openxmlformats.org/officeDocument/2006/relationships/slide" Target="/ppt/slides/slide1.xml" Id="R18bdb26baf874873" /><Relationship Type="http://schemas.openxmlformats.org/officeDocument/2006/relationships/slide" Target="/ppt/slides/slide2.xml" Id="R0f27aae4727d4da7" /><Relationship Type="http://schemas.openxmlformats.org/officeDocument/2006/relationships/slide" Target="/ppt/slides/slide3.xml" Id="Rba2191fdaa094552" /><Relationship Type="http://schemas.openxmlformats.org/officeDocument/2006/relationships/slide" Target="/ppt/slides/slide4.xml" Id="Rfb6dee9645524e1f" /><Relationship Type="http://schemas.openxmlformats.org/officeDocument/2006/relationships/slide" Target="/ppt/slides/slide5.xml" Id="R1323737bcf4440a7" /><Relationship Type="http://schemas.openxmlformats.org/officeDocument/2006/relationships/slide" Target="/ppt/slides/slide6.xml" Id="R280e6875d38b408a" /><Relationship Type="http://schemas.openxmlformats.org/officeDocument/2006/relationships/slide" Target="/ppt/slides/slide7.xml" Id="Rdf98a8d5a11c4ab2" /><Relationship Type="http://schemas.openxmlformats.org/officeDocument/2006/relationships/slide" Target="/ppt/slides/slide8.xml" Id="Rba01c7ad28714248" /><Relationship Type="http://schemas.openxmlformats.org/officeDocument/2006/relationships/slide" Target="/ppt/slides/slide9.xml" Id="R097629f107bb4514" /><Relationship Type="http://schemas.openxmlformats.org/officeDocument/2006/relationships/slide" Target="/ppt/slides/slide10.xml" Id="Rdcf64e9891c84832" /><Relationship Type="http://schemas.openxmlformats.org/officeDocument/2006/relationships/slide" Target="/ppt/slides/slide11.xml" Id="Rf24a1dd2629a4687" /><Relationship Type="http://schemas.openxmlformats.org/officeDocument/2006/relationships/slide" Target="/ppt/slides/slide12.xml" Id="Rf714811ed158481d" /><Relationship Type="http://schemas.openxmlformats.org/officeDocument/2006/relationships/slide" Target="/ppt/slides/slide13.xml" Id="Rf9b0c5c6d5b94860" /><Relationship Type="http://schemas.openxmlformats.org/officeDocument/2006/relationships/slide" Target="/ppt/slides/slide14.xml" Id="R9601a7aa98904c2f" /><Relationship Type="http://schemas.openxmlformats.org/officeDocument/2006/relationships/slide" Target="/ppt/slides/slide15.xml" Id="R3c9044ca98f64e1d" /><Relationship Type="http://schemas.openxmlformats.org/officeDocument/2006/relationships/slide" Target="/ppt/slides/slide16.xml" Id="Ra252ff27beab42bd" /><Relationship Type="http://schemas.openxmlformats.org/officeDocument/2006/relationships/slide" Target="/ppt/slides/slide17.xml" Id="R4e2c036537214afd" /><Relationship Type="http://schemas.openxmlformats.org/officeDocument/2006/relationships/slide" Target="/ppt/slides/slide18.xml" Id="R4a1dfd7996274c11" /><Relationship Type="http://schemas.openxmlformats.org/officeDocument/2006/relationships/slide" Target="/ppt/slides/slide19.xml" Id="Rc30b88d3c2724e9e" /><Relationship Type="http://schemas.openxmlformats.org/officeDocument/2006/relationships/slide" Target="/ppt/slides/slide20.xml" Id="Re3edf5f600484b91" /><Relationship Type="http://schemas.openxmlformats.org/officeDocument/2006/relationships/slide" Target="/ppt/slides/slide21.xml" Id="R06c65bccfc524244" /><Relationship Type="http://schemas.openxmlformats.org/officeDocument/2006/relationships/slide" Target="/ppt/slides/slide22.xml" Id="R82ed7f3a82ce4a21" /><Relationship Type="http://schemas.openxmlformats.org/officeDocument/2006/relationships/slide" Target="/ppt/slides/slide23.xml" Id="R4645f9caf86a460a" /><Relationship Type="http://schemas.openxmlformats.org/officeDocument/2006/relationships/slide" Target="/ppt/slides/slide24.xml" Id="Redc336a8d82348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f9ac54184d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387052b6344ab1" /><Relationship Type="http://schemas.openxmlformats.org/officeDocument/2006/relationships/notesMaster" Target="/ppt/notesMasters/notesMaster1.xml" Id="R227af6adb42b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849b6b1fd948a1" /><Relationship Type="http://schemas.openxmlformats.org/officeDocument/2006/relationships/notesMaster" Target="/ppt/notesMasters/notesMaster1.xml" Id="R197cf7de93d1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e336023b6a4cf5" /><Relationship Type="http://schemas.openxmlformats.org/officeDocument/2006/relationships/notesMaster" Target="/ppt/notesMasters/notesMaster1.xml" Id="R6971e54f78cc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ecdfc7d6f4a89" /><Relationship Type="http://schemas.openxmlformats.org/officeDocument/2006/relationships/notesMaster" Target="/ppt/notesMasters/notesMaster1.xml" Id="R1c8fe517a1b648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2c8942e3d4bf8" /><Relationship Type="http://schemas.openxmlformats.org/officeDocument/2006/relationships/notesMaster" Target="/ppt/notesMasters/notesMaster1.xml" Id="R0740e67abaab49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4b2a1023c840f5" /><Relationship Type="http://schemas.openxmlformats.org/officeDocument/2006/relationships/notesMaster" Target="/ppt/notesMasters/notesMaster1.xml" Id="Rc28a4b60dc324b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75d15ae432402d" /><Relationship Type="http://schemas.openxmlformats.org/officeDocument/2006/relationships/notesMaster" Target="/ppt/notesMasters/notesMaster1.xml" Id="R8a8de207610b46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92913566f54d3d" /><Relationship Type="http://schemas.openxmlformats.org/officeDocument/2006/relationships/notesMaster" Target="/ppt/notesMasters/notesMaster1.xml" Id="Rd4612ef81b8a4f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52842aa9db49d0" /><Relationship Type="http://schemas.openxmlformats.org/officeDocument/2006/relationships/notesMaster" Target="/ppt/notesMasters/notesMaster1.xml" Id="Rda4e7506f4ad41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8bfbd294ab44d2" /><Relationship Type="http://schemas.openxmlformats.org/officeDocument/2006/relationships/notesMaster" Target="/ppt/notesMasters/notesMaster1.xml" Id="R7ab364e241204c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599cf72b9149fe" /><Relationship Type="http://schemas.openxmlformats.org/officeDocument/2006/relationships/notesMaster" Target="/ppt/notesMasters/notesMaster1.xml" Id="R20593e6c47964e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05890ca18a4064" /><Relationship Type="http://schemas.openxmlformats.org/officeDocument/2006/relationships/notesMaster" Target="/ppt/notesMasters/notesMaster1.xml" Id="R2d858d56b0ca44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d2a5781f92441e" /><Relationship Type="http://schemas.openxmlformats.org/officeDocument/2006/relationships/notesMaster" Target="/ppt/notesMasters/notesMaster1.xml" Id="R07573c5e056e42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f8e3c0bdc440e6" /><Relationship Type="http://schemas.openxmlformats.org/officeDocument/2006/relationships/notesMaster" Target="/ppt/notesMasters/notesMaster1.xml" Id="R0fa147749fae47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57ff1315ba4fcd" /><Relationship Type="http://schemas.openxmlformats.org/officeDocument/2006/relationships/notesMaster" Target="/ppt/notesMasters/notesMaster1.xml" Id="Rc2c8493d1c844a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e26bc228f446d1" /><Relationship Type="http://schemas.openxmlformats.org/officeDocument/2006/relationships/notesMaster" Target="/ppt/notesMasters/notesMaster1.xml" Id="R2423072c44d44e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ec364535b140a8" /><Relationship Type="http://schemas.openxmlformats.org/officeDocument/2006/relationships/notesMaster" Target="/ppt/notesMasters/notesMaster1.xml" Id="Rcece89fbb8e247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7aaaf231254a8f" /><Relationship Type="http://schemas.openxmlformats.org/officeDocument/2006/relationships/notesMaster" Target="/ppt/notesMasters/notesMaster1.xml" Id="R774502c0479e4c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47830d36944a3e" /><Relationship Type="http://schemas.openxmlformats.org/officeDocument/2006/relationships/notesMaster" Target="/ppt/notesMasters/notesMaster1.xml" Id="R179c5586279a4a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22abfadc224c20" /><Relationship Type="http://schemas.openxmlformats.org/officeDocument/2006/relationships/notesMaster" Target="/ppt/notesMasters/notesMaster1.xml" Id="R3b7725c2f59c42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b33eeabb904573" /><Relationship Type="http://schemas.openxmlformats.org/officeDocument/2006/relationships/notesMaster" Target="/ppt/notesMasters/notesMaster1.xml" Id="R90587af2273246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585053f9a74da8" /><Relationship Type="http://schemas.openxmlformats.org/officeDocument/2006/relationships/notesMaster" Target="/ppt/notesMasters/notesMaster1.xml" Id="Rb2ff28a9058749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acbb8762a34fe8" /><Relationship Type="http://schemas.openxmlformats.org/officeDocument/2006/relationships/notesMaster" Target="/ppt/notesMasters/notesMaster1.xml" Id="Rd47fbdfef4d0482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c473a86d8342e2" /><Relationship Type="http://schemas.openxmlformats.org/officeDocument/2006/relationships/notesMaster" Target="/ppt/notesMasters/notesMaster1.xml" Id="R52f218019c3945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Initiative und Vision: Nutzerbeschreibung in diesem Gespräch. Darstellung mit KI-Unterstützung.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https://www.icrc.org/en/document/icrc-position-autonomous-weapon-systems</a:t>
            </a:r>
          </a:p>
          <a:p xmlns:a="http://schemas.openxmlformats.org/drawingml/2006/main">
            <a:r>
              <a:t>IKRK-Position, keine Behauptung einer behördlichen Freigabe oder vollständigen Rechtsprüfung.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Lokaler README-Stand fa7c3913b2dc1bf9d30ae665388e6372779d5034. Screenshot aus vorheriger lokaler Prüfung.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Lokale receipts/comparison.json, recordedAt 2026-10-16T21:08:52.736Z. Wechsel zählen nur zwischen nichtleeren Zuständen. Keine neue Messung in dieser Präsentation.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receipts/comparison.json: ablations, label Ohne konkurrierende Hemmung, stabilizedNonNullSwitches=0.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Lokale receipts/tests-motion-final.tap und source-rebuild-fa7c391-tests.tap. Nicht neu ausgeführt. Keine GitHub-CI-Aussage.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https://www.nist.gov/itl/ai-risk-management-framework</a:t>
            </a:r>
          </a:p>
          <a:p xmlns:a="http://schemas.openxmlformats.org/drawingml/2006/main">
            <a:r>
              <a:t>https://www.icrc.org/en/document/icrc-position-autonomous-weapon-systems</a:t>
            </a:r>
          </a:p>
          <a:p xmlns:a="http://schemas.openxmlformats.org/drawingml/2006/main">
            <a:r>
              <a:t>https://doi.org/10.1126/science.1210361</a:t>
            </a:r>
          </a:p>
          <a:p xmlns:a="http://schemas.openxmlformats.org/drawingml/2006/main">
            <a:r>
              <a:t>Keine Reproduktion der biologischen Gleichungen. Quellen sind keine Bestätigung dieses Projekts.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https://github.com/Juri-Halveth/open-research-branches</a:t>
            </a:r>
          </a:p>
          <a:p xmlns:a="http://schemas.openxmlformats.org/drawingml/2006/main">
            <a:r>
              <a:t>Die Präsentation belegt selbst weder einen Versand noch eine behördliche Annahme. Neue Beiträge folgen der ausdrücklich zugeordneten Repository-Lizenz.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9db7802c34e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1990d03f24b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4fe4ce32b44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65b0072a240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a424385884c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01000b70a41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19DB42-596A-473E-BF95-10E1F32C2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8FB17F-690C-4855-A433-390A599CA0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DC33A0-C3F1-4363-9D22-208014B9A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696BB-6F73-4FAD-810C-B985B3595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E837E1-E494-4702-B054-A82BF03F4A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96B58-E12A-472B-97C3-73180FDD74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3312C8-164B-4361-A5C2-5CCB51928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4BF4D1-BE8C-4231-BAC9-467C76C7AF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D14DEF-8C97-4742-BA75-B07960132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5B202C-531E-4E37-AD30-B19C76DCC3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3ca6c754645d5" /><Relationship Type="http://schemas.openxmlformats.org/officeDocument/2006/relationships/slideLayout" Target="/ppt/slideLayouts/slideLayout1.xml" Id="Ra147f74d98f04b73" /><Relationship Type="http://schemas.openxmlformats.org/officeDocument/2006/relationships/slideLayout" Target="/ppt/slideLayouts/slideLayout2.xml" Id="R4b0cf93e50bf437a" /><Relationship Type="http://schemas.openxmlformats.org/officeDocument/2006/relationships/slideLayout" Target="/ppt/slideLayouts/slideLayout3.xml" Id="R7b388eb4d76a4b7d" /><Relationship Type="http://schemas.openxmlformats.org/officeDocument/2006/relationships/slideLayout" Target="/ppt/slideLayouts/slideLayout4.xml" Id="R3442643809474db6" /><Relationship Type="http://schemas.openxmlformats.org/officeDocument/2006/relationships/slideLayout" Target="/ppt/slideLayouts/slideLayout5.xml" Id="R90aedeaf60bd4e9a" /><Relationship Type="http://schemas.openxmlformats.org/officeDocument/2006/relationships/slideLayout" Target="/ppt/slideLayouts/slideLayout6.xml" Id="R6c4a31e2ec8d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7f74d98f04b73"/>
    <p:sldLayoutId xmlns:r="http://schemas.openxmlformats.org/officeDocument/2006/relationships" id="2147483650" r:id="R4b0cf93e50bf437a"/>
    <p:sldLayoutId xmlns:r="http://schemas.openxmlformats.org/officeDocument/2006/relationships" id="2147483651" r:id="R7b388eb4d76a4b7d"/>
    <p:sldLayoutId xmlns:r="http://schemas.openxmlformats.org/officeDocument/2006/relationships" id="2147483652" r:id="R3442643809474db6"/>
    <p:sldLayoutId xmlns:r="http://schemas.openxmlformats.org/officeDocument/2006/relationships" id="2147483653" r:id="R90aedeaf60bd4e9a"/>
    <p:sldLayoutId xmlns:r="http://schemas.openxmlformats.org/officeDocument/2006/relationships" id="2147483654" r:id="R6c4a31e2ec8d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64ad912c24dd4" /><Relationship Type="http://schemas.openxmlformats.org/officeDocument/2006/relationships/notesSlide" Target="/ppt/notesSlides/notesSlide1.xml" Id="R66ad313aacb1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ddfefaec24f38" /><Relationship Type="http://schemas.openxmlformats.org/officeDocument/2006/relationships/notesSlide" Target="/ppt/notesSlides/notesSlide2.xml" Id="Raa88ca8e42c349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d337dcb9d477b" /><Relationship Type="http://schemas.openxmlformats.org/officeDocument/2006/relationships/notesSlide" Target="/ppt/notesSlides/notesSlide3.xml" Id="Rd266d00b2300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fda6f2ba646fd" /><Relationship Type="http://schemas.openxmlformats.org/officeDocument/2006/relationships/notesSlide" Target="/ppt/notesSlides/notesSlide4.xml" Id="R71f386d4f50f4c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002be39864fa0" /><Relationship Type="http://schemas.openxmlformats.org/officeDocument/2006/relationships/notesSlide" Target="/ppt/notesSlides/notesSlide5.xml" Id="R8219aebc8ed946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c9537ed4e4c4f" /><Relationship Type="http://schemas.openxmlformats.org/officeDocument/2006/relationships/notesSlide" Target="/ppt/notesSlides/notesSlide6.xml" Id="R33eb6c8df9d14f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87ddd713a4be0" /><Relationship Type="http://schemas.openxmlformats.org/officeDocument/2006/relationships/notesSlide" Target="/ppt/notesSlides/notesSlide7.xml" Id="Re6cb4e8763fb44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0e1398bda4e2f" /><Relationship Type="http://schemas.openxmlformats.org/officeDocument/2006/relationships/notesSlide" Target="/ppt/notesSlides/notesSlide8.xml" Id="Ra4be2ad8b3e545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3838e4804443a" /><Relationship Type="http://schemas.openxmlformats.org/officeDocument/2006/relationships/notesSlide" Target="/ppt/notesSlides/notesSlide9.xml" Id="Rd794fc91222940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03dffaf444622" /><Relationship Type="http://schemas.openxmlformats.org/officeDocument/2006/relationships/notesSlide" Target="/ppt/notesSlides/notesSlide10.xml" Id="Rd671c0a79af346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7a86c6cf749e5" /><Relationship Type="http://schemas.openxmlformats.org/officeDocument/2006/relationships/notesSlide" Target="/ppt/notesSlides/notesSlide11.xml" Id="R90ccd3d8e8134d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9f48c911c47f6" /><Relationship Type="http://schemas.openxmlformats.org/officeDocument/2006/relationships/notesSlide" Target="/ppt/notesSlides/notesSlide12.xml" Id="R23e2c75103364f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34086c47c495e" /><Relationship Type="http://schemas.openxmlformats.org/officeDocument/2006/relationships/notesSlide" Target="/ppt/notesSlides/notesSlide13.xml" Id="R15e5c0fda5a14e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17662c2dc4f53" /><Relationship Type="http://schemas.openxmlformats.org/officeDocument/2006/relationships/notesSlide" Target="/ppt/notesSlides/notesSlide14.xml" Id="Rc5888c91186245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034c3c5e04a2a" /><Relationship Type="http://schemas.openxmlformats.org/officeDocument/2006/relationships/notesSlide" Target="/ppt/notesSlides/notesSlide15.xml" Id="R2ac817ab502246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ab36c2438d4b5c" /><Relationship Type="http://schemas.openxmlformats.org/officeDocument/2006/relationships/notesSlide" Target="/ppt/notesSlides/notesSlide16.xml" Id="R5192435fb9ea45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e7e05233b4b92" /><Relationship Type="http://schemas.openxmlformats.org/officeDocument/2006/relationships/image" Target="/ppt/media/image.jpeg" Id="R2b569e6a08ab449f" /><Relationship Type="http://schemas.openxmlformats.org/officeDocument/2006/relationships/notesSlide" Target="/ppt/notesSlides/notesSlide17.xml" Id="Redee8f295aeb49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bd04ef88a4c51" /><Relationship Type="http://schemas.openxmlformats.org/officeDocument/2006/relationships/notesSlide" Target="/ppt/notesSlides/notesSlide18.xml" Id="Rdae0a33791304e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24b574d3645fa" /><Relationship Type="http://schemas.openxmlformats.org/officeDocument/2006/relationships/notesSlide" Target="/ppt/notesSlides/notesSlide19.xml" Id="R3daf6821c4564c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2093bd8ad416c" /><Relationship Type="http://schemas.openxmlformats.org/officeDocument/2006/relationships/notesSlide" Target="/ppt/notesSlides/notesSlide20.xml" Id="R63ad08f08fc344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4b4c72cfa4c92" /><Relationship Type="http://schemas.openxmlformats.org/officeDocument/2006/relationships/notesSlide" Target="/ppt/notesSlides/notesSlide21.xml" Id="R2200164210664fc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4ca428f054d16" /><Relationship Type="http://schemas.openxmlformats.org/officeDocument/2006/relationships/notesSlide" Target="/ppt/notesSlides/notesSlide22.xml" Id="R3942566db0f249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d98bcd5be4a9e" /><Relationship Type="http://schemas.openxmlformats.org/officeDocument/2006/relationships/notesSlide" Target="/ppt/notesSlides/notesSlide23.xml" Id="Rb4918d8eb06445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ec5304894430a" /><Relationship Type="http://schemas.openxmlformats.org/officeDocument/2006/relationships/notesSlide" Target="/ppt/notesSlides/notesSlide24.xml" Id="Raa80585cf4af41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41FA7-B68D-4500-8942-9B2E43F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HALVETH / LUCINET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5B94B-72D0-48C1-9C32-D9568900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GUARDIAN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BFB06-C4C6-4570-A105-C9031E2C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CF8E-98F8-4433-9C54-58D100BD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22ED2-E9B8-437F-9F23-7F878A8A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01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5C4E8-58F2-4FED-9927-824B5D2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285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Eigene Perspektiven.</a:t>
            </a:r>
          </a:p>
          <a:p xmlns:a="http://schemas.openxmlformats.org/drawingml/2006/main">
            <a:pPr>
              <a:defRPr sz="4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Nachvollziehbare Verantwortung.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87391-9E20-44BE-94DF-572DBD12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266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Ein visuelles Konzept für die unabhängige Prüfung</a:t>
            </a:r>
          </a:p>
          <a:p xmlns:a="http://schemas.openxmlformats.org/drawingml/2006/main">
            <a:pPr>
              <a:defRPr sz="26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vernetzter Beobachtungssysteme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AE648-793A-4D88-9D58-23579616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HALVETH, 17.10.2026. Kritische Konzeptprüfung, keine Einsatzsimulation oder Einsatzfreigabe.</a:t>
            </a:r>
          </a:p>
        </p:txBody>
      </p:sp>
    </p:spTree>
    <p:extLst>
      <p:ext uri="{BB962C8B-B14F-4D97-AF65-F5344CB8AC3E}">
        <p14:creationId xmlns:p14="http://schemas.microsoft.com/office/powerpoint/2010/main" val="1911770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DAB6-3E63-4AAF-BC4B-82B57287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F0C7-E858-4CDA-949A-0ECC690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Die Vorstellung hinter GUARDIAN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164AC-BB03-41E0-A7F9-FAD413A9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D5CA8-72CE-4AA3-90FA-B2D996A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4473A-BAD2-43A6-A28A-F33B0F8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02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CBA4-DAC2-46F0-80BD-FC1CC5F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2382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 persönlicher fliegender Begleiter, der über Zeit vertraut wird und seine Umgebung aufmerksam wahrnimmt.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AA47E-0759-4D95-B52A-92D6779A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238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Das Forschungsinteresse gilt seiner Informationsqualität: Was hat er selbst gesehen? Was hat er übernommen? Was bleibt offen?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B3CEE-7266-4522-8B4B-32961695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Vision des Initiators. Technische Machbarkeit und Einsatzreife bleiben offen.</a:t>
            </a:r>
          </a:p>
        </p:txBody>
      </p:sp>
    </p:spTree>
    <p:extLst>
      <p:ext uri="{BB962C8B-B14F-4D97-AF65-F5344CB8AC3E}">
        <p14:creationId xmlns:p14="http://schemas.microsoft.com/office/powerpoint/2010/main" val="1325743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B799F-C092-42FF-A058-C88C6086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DREI GETRENNTE STÄNDE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1B81E-5D08-4864-BAB2-7F8571E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Vision, Modell und vorhandener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66090-635A-4950-8414-6C5C32EF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C08B0-EDD6-4D8E-9E4C-E68116AF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5A9AD-510A-4EF4-8DC4-819616B7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03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09651-5EDF-4593-B702-EEDF398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F36C7-DD03-4F0C-9D99-E63E36E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46A3F-0231-42DA-95C6-C9EF95B0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Persönliche Begleitung und verantwortbare Warnfunktion.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CFD25-BE63-43FE-93B3-BB34385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7AEF2-DB0D-4B07-8AB9-663BC7F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Konzeptmodell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859ED-261A-468B-82EA-A1D2F4F5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Zehn Perspektiven als verständliches Gedankenbeispiel.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585C5-DE86-4A22-A66F-91310E2B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A5449-3E15-44E8-AF3A-DBC30226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Lokaler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C3280-48DC-4164-AFD7-2BFED152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Synthetische Fokusauswahl und Herkunftsübersicht.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4C9C3-2C99-4F30-9C4F-483434FB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Bewaffnete Anwendungen gehören zur ursprünglichen Vision. Dieses Paket betrachtet Risiken und Verantwortung.</a:t>
            </a:r>
          </a:p>
        </p:txBody>
      </p:sp>
    </p:spTree>
    <p:extLst>
      <p:ext uri="{BB962C8B-B14F-4D97-AF65-F5344CB8AC3E}">
        <p14:creationId xmlns:p14="http://schemas.microsoft.com/office/powerpoint/2010/main" val="1068002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440194-A837-4E45-A4F4-A9226907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ERKLÄRBILD · KEINE FLUGSIMULATION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0A4C6-84C3-48E1-9744-2E0D4AFA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Zehn Einheiten, zehn Informationsstände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CF6F8-4C56-412D-B2CA-1F5190E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94A61-5D09-4AD9-A433-1650019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1B12-439E-4699-8EEA-2703C9B4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04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7E2D6-CE85-4612-8A7C-9E24376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AC8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F4A64-6BFA-4DC3-83ED-E2DE904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AC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AC8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AC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6550C-BD43-4B01-B12D-DFD541E7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eigene Sicht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7A459-3507-44EE-B421-4C1D13BD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1462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3ED92-AA1E-4D41-86E1-265D13D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432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208AA-E7D1-43AA-B504-797BD966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14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eigene Sicht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52942-CAA4-4E78-B88B-D6970B2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1462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70E94-F90A-4F2E-8C73-64D4445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432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B15CD-5B2C-4379-883C-F981D58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714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Sichtlücke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66A21-2D38-4D74-81C2-E5C93FD0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1462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2710C-31EA-4F71-AEB0-936ACEF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432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89E28-A12D-4C27-B774-AFA961E7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14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Meldung erhalten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D2D54-C706-4DC8-AFC1-9C1F6DB6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271462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73EA7-0A1A-4E4E-810E-EC45849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432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334DE-74E8-4E88-9B90-BF03588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3714750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eigene Sicht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EF92F-6FA8-449A-BDB4-753C4D38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FBC74-0D1E-4FEB-89AF-72B6B1E0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CAA27-CDC9-413D-8478-9BE893DC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673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unklar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0F37E-F55E-44D3-A5F4-F4383979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667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92384-AC81-4B39-AA98-4EB90FF9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33A19-3ADB-4460-9370-3340BB07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6673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Meldung erhalten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D5077-F393-4F14-9221-2DD1546F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67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812A9-7FEB-4467-BAE8-32D2BF95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0F37D-E3F5-4419-BC2D-78DFB7C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673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veraltete Sicht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FA98C-0FD4-4AD4-BB5F-271C24C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667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192258-CDD7-43F6-A3ED-FE5C7C7F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95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5E5DD-4049-44C0-903C-0CEC6DA8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673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eigene Sicht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4AD1ED-0DB0-4223-8438-C26BC028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66725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DE0C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A59C55-2DAF-498F-AE26-51D67522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8958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C7383B-3693-4435-940B-EC632977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6673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Sichtlücke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60B4B0-9587-4B5B-85EE-0C4F9F6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Nummern bezeichnen konzeptionelle Beobachter. Die Zustände sind frei erfundene Beispiele.</a:t>
            </a:r>
          </a:p>
        </p:txBody>
      </p:sp>
    </p:spTree>
    <p:extLst>
      <p:ext uri="{BB962C8B-B14F-4D97-AF65-F5344CB8AC3E}">
        <p14:creationId xmlns:p14="http://schemas.microsoft.com/office/powerpoint/2010/main" val="695629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D4D88-98B4-41F3-9661-B476018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HERKUNFT STATT WIEDERHOLUNG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C3EFC-22D4-4A52-83F9-9EBF0516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Eine Meldung kann oft auftauchen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45A17-88E9-462F-A6D8-F5E4E23A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67EF5-DD6F-4DEB-BDD9-2CC5B6A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8A9E-2A29-49CE-95D0-0E9FD772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05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79A7C-9740-4F8B-A29C-A5ADAEC8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120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64134-0042-4519-A58E-6649A648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ursprüngliche Meldung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D049F-5469-408B-86A8-41FCE8D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0" b="1">
                <a:solidFill>
                  <a:srgbClr val="9B55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0" b="1">
                <a:solidFill>
                  <a:srgbClr val="9B552C"/>
                </a:solidFill>
                <a:latin typeface="Arial"/>
                <a:ea typeface="Arial"/>
                <a:cs typeface="Arial"/>
              </a:defRPr>
            </a:pPr>
            <a:r>
              <a:rPr sz="12000" b="1">
                <a:solidFill>
                  <a:srgbClr val="9B552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A077-D16E-4297-B04F-45AD049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Weiterleitungen derselben Meldung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03238-88A9-406E-B04E-10B5AC3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Zehn sichtbare Nachrichten können weiterhin auf einer einzigen Erfassung beruhen.</a:t>
            </a:r>
          </a:p>
        </p:txBody>
      </p:sp>
    </p:spTree>
    <p:extLst>
      <p:ext uri="{BB962C8B-B14F-4D97-AF65-F5344CB8AC3E}">
        <p14:creationId xmlns:p14="http://schemas.microsoft.com/office/powerpoint/2010/main" val="613290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EC1F9-2B3D-4386-B716-9A084F9D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DAS ZENTRALE SICHERHEITSPROBLEM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F7F6D-E859-4367-9940-FF80E702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Eine Handlung bestätigt keine Einschätzung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6BD4A-F758-4484-B5A6-534FC0B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3B90-D834-428A-AC43-C1AC41A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DBD99-0EE5-4747-9F56-3E3EB80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06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67109-3C0B-43B5-A691-190D9D3F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314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„Eine Einheit hat gehandelt.“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CDABD-EB7C-455F-8034-1CFBA7A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276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Diese Beobachtung erklärt noch nicht, ob die zugrunde liegende Einschätzung richtig war oder wer dazu befugt war.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EBF0A-AF19-4BCA-A0DB-1397521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Prüfgegenstand ist eine mögliche Fehlerkaskade. Diese Darstellung enthält keine Waffenentscheidung.</a:t>
            </a:r>
          </a:p>
        </p:txBody>
      </p:sp>
    </p:spTree>
    <p:extLst>
      <p:ext uri="{BB962C8B-B14F-4D97-AF65-F5344CB8AC3E}">
        <p14:creationId xmlns:p14="http://schemas.microsoft.com/office/powerpoint/2010/main" val="1103148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4907B-8BBD-4369-A684-4901CBF9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KONZEPTUELLES LEHRBEISPIEL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6C314-9CCE-443B-B003-7E81D6B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Ein Widerspruch bleibt sichtbar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06F80-8F2D-4BB2-A98F-770BFBD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92862-C7BF-4292-ABE4-ED94412F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12412-B4B6-4C06-8AE4-A79B7E2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07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4116-8D62-4C85-9756-949128F2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A235C-BB96-49C2-96A1-1D1CD902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Erste Meldung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2A01D-6A3F-4C2A-B902-8BD7255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„Ich habe eine Veränderung bemerkt.“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58A77-1221-4020-8A17-333D3CA0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E9B88-8447-4BBA-ABA8-3141BEAC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Abweichende Sicht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AEFE4-876D-45A9-BC06-6608234D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„Meine Information passt dazu noch nicht.“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D2B69-309E-4252-B604-0F5E38FD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E71E1-9CC6-45A5-B965-5B52D9D0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Offener 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AE52D-53A3-4458-BFB2-C071681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„Der Widerspruch braucht menschliche Prüfung.“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119FA-A0E7-4BF6-A0C1-D8AE4BD9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Verschiedene Aussagen begründen weder automatisch Mehrheit noch Gewissheit.</a:t>
            </a:r>
          </a:p>
        </p:txBody>
      </p:sp>
    </p:spTree>
    <p:extLst>
      <p:ext uri="{BB962C8B-B14F-4D97-AF65-F5344CB8AC3E}">
        <p14:creationId xmlns:p14="http://schemas.microsoft.com/office/powerpoint/2010/main" val="1898782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DC080-CBFC-4B58-9B69-3A6048C6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SELBSTPRÜFUNG UND FREMDPRÜFUNG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FD8F5-527B-407D-9132-6CDCF1FA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Individuelle Prüfung hat zwei Seiten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CE9CB-2824-42A6-8561-4A826352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2EE85-F30B-44CE-A5A4-616C33F5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F7ABA-AAAD-4CC8-BABD-81EB084E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08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3C38C-14EE-4635-8DF8-CA9BD089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Meine Grundlage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4F271-D163-4752-88C4-D893632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Welche Quelle trägt meine Aussage?</a:t>
            </a:r>
          </a:p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Wie aktuell ist sie?</a:t>
            </a:r>
          </a:p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Was könnte ich übersehen haben?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F1A8E-B1EF-45CE-A4EE-9469B710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Die erhaltene Meldung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C053B-A4BE-437A-9C19-A08DCCD8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Woher kommt sie ursprünglich?</a:t>
            </a:r>
          </a:p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Welche Abhängigkeiten sind bekannt?</a:t>
            </a:r>
          </a:p>
          <a:p xmlns:a="http://schemas.openxmlformats.org/drawingml/2006/main">
            <a:pPr>
              <a:defRPr sz="26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Welche Gegeninformation liegt vor?</a:t>
            </a:r>
          </a:p>
        </p:txBody>
      </p:sp>
    </p:spTree>
    <p:extLst>
      <p:ext uri="{BB962C8B-B14F-4D97-AF65-F5344CB8AC3E}">
        <p14:creationId xmlns:p14="http://schemas.microsoft.com/office/powerpoint/2010/main" val="1957493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8BE22-1003-498F-8039-24236F49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04CDF-11BD-4C5E-B21E-FD74F38B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Zeit gehört zu jeder Beobachtung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A9582-53D9-4F8D-ABF4-9969421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4A858-E9ED-4D35-83C8-8F57DD82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00326-6784-48C7-8982-21156AC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09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EE37-458E-4274-928C-A40D49FD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T₁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2B53-9B78-45EA-A433-5C3E35C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Erfassung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8241B-748B-4F32-B13C-C36C8F9B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Wann entstand die Information?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13C5F-40AC-4A75-A308-505AC549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T₂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A171C-40D0-43CD-A39B-660A31F1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Weitergabe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32C9A-A10D-4F9F-AB25-6614BF3C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Wann erhielt die nächste Stelle die Meldung?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2DEF6-A6FA-4DAB-B3BF-BCACEB0A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T₃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4AE96-0925-4872-8D46-74552187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Auswertung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9F3E6-4DEF-49B5-B88F-54EA5EC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Auf welchen Zeitraum bezieht sich die heutige Aussage?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7057E-4A2F-4ADD-AA7F-215F7BA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Eine neue Weiterleitung macht eine alte Beobachtung nicht aktuell.</a:t>
            </a:r>
          </a:p>
        </p:txBody>
      </p:sp>
    </p:spTree>
    <p:extLst>
      <p:ext uri="{BB962C8B-B14F-4D97-AF65-F5344CB8AC3E}">
        <p14:creationId xmlns:p14="http://schemas.microsoft.com/office/powerpoint/2010/main" val="1530067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A9CF4-AE64-41DA-817A-DBC387BF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SENSORIK ALS OFFENE FORSCHUNGSFRAGE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1EB3C-27CD-4938-ADA6-597F1D1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Sichtbares Bild und Infrarot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FAD19-3790-49AD-9DB0-65760053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76AD4-B902-498E-9941-C10118C0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95AF6-888B-4F21-ABB3-20A955F9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96822-4ECB-4144-A6B1-66D421D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Die Vision sieht mehrere Bildkanäle vor. Ihre Darstellung muss Herkunft, Aufnahmezeit und Grenzen erkennen lassen.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7849E-AF11-4594-8B79-D3007B5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285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Wärmebild und aktiv infrarotbeleuchtete Nachtsicht sind unterschiedliche Verfahren. Ein reiner Ansichtswechsel ist noch keine unabhängige Bestätigung.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4E05C-C7F2-4616-9BC6-8E2D9CA0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Keine Sensorintegration, Zielerkennung oder taktische Beobachtungsplanung in diesem Paket.</a:t>
            </a:r>
          </a:p>
        </p:txBody>
      </p:sp>
    </p:spTree>
    <p:extLst>
      <p:ext uri="{BB962C8B-B14F-4D97-AF65-F5344CB8AC3E}">
        <p14:creationId xmlns:p14="http://schemas.microsoft.com/office/powerpoint/2010/main" val="525025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27E6D-D7F0-4B80-BC6A-3F583F8B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DDC12-CC0C-4C4F-A23F-4A1F263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Eine Sichtlücke ist ein eigener Zustand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374B2-8207-43BE-89AF-63E34801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A8F76-7E5C-4BAD-B69E-D108737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58B4C-24F7-49B8-BF54-2ACB946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D4F3E-E3A2-4FAD-9D66-9548B989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314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125" b="1">
                <a:solidFill>
                  <a:srgbClr val="FFAC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125" b="1">
                <a:solidFill>
                  <a:srgbClr val="FFAC81"/>
                </a:solidFill>
                <a:latin typeface="Arial"/>
                <a:ea typeface="Arial"/>
                <a:cs typeface="Arial"/>
              </a:defRPr>
            </a:pPr>
            <a:r>
              <a:rPr sz="7125" b="1">
                <a:solidFill>
                  <a:srgbClr val="FFAC81"/>
                </a:solidFill>
                <a:latin typeface="Arial"/>
                <a:ea typeface="Arial"/>
                <a:cs typeface="Arial"/>
              </a:rPr>
              <a:t>UNBEKANNT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ED2DC-87A2-4C5E-A557-E8BF6E64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2858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Eine fehlende Beobachtung lässt mehrere Erklärungen offen. Das Modell darf aus einer Lücke keine Entwarnung oder Bestätigung ableiten.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E7EDC-A96C-4F4F-B53D-1D88F9C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Die Darstellung muss zeigen, welcher Bereich und welcher Zeitraum tatsächlich erfasst wurden.</a:t>
            </a:r>
          </a:p>
        </p:txBody>
      </p:sp>
    </p:spTree>
    <p:extLst>
      <p:ext uri="{BB962C8B-B14F-4D97-AF65-F5344CB8AC3E}">
        <p14:creationId xmlns:p14="http://schemas.microsoft.com/office/powerpoint/2010/main" val="2101739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93145-47C3-477B-94B0-B2065AFD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FACHLICHER BEZUG: IKRK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F70C2-7B49-4F33-B915-A2F29836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Menschliche Verantwortung bleibt benennbar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1A28D-BC2A-4337-9A6E-232C34D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0384B-1004-4CF5-8E52-E4D713D4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4C74-F7C4-4BFC-B036-A6FA10E0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6520-B9C3-41F3-8CD3-DF95698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Wer beurteilt die Situation?</a:t>
            </a:r>
          </a:p>
          <a:p xmlns:a="http://schemas.openxmlformats.org/drawingml/2006/main">
            <a:pPr>
              <a:defRPr sz="36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Wer darf eine Entscheidung freigeben?</a:t>
            </a:r>
          </a:p>
          <a:p xmlns:a="http://schemas.openxmlformats.org/drawingml/2006/main">
            <a:pPr>
              <a:defRPr sz="36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Wer kann unterbrechen?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96AC6-3533-4992-88EC-F6C0D1C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285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Das IKRK empfiehlt Verbote unvorhersehbarer autonomer Waffen und autonomer Waffen zur Gewaltanwendung gegen Menschen. Menschliche Freigabe allein belegt keine Rechtmäßigkeit oder Sicherheit.</a:t>
            </a:r>
          </a:p>
        </p:txBody>
      </p:sp>
    </p:spTree>
    <p:extLst>
      <p:ext uri="{BB962C8B-B14F-4D97-AF65-F5344CB8AC3E}">
        <p14:creationId xmlns:p14="http://schemas.microsoft.com/office/powerpoint/2010/main" val="19520317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161C1-208C-4F41-9855-A2C388E4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57FD7-0AEE-4CD7-9E31-3EF7D365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Lernen braucht einen prüfbaren Änderungsstand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02EE0-0BB4-4839-AF25-2D3C502A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D225D-1FFD-4F70-9B3C-7B8CE4C0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105B2-ABA0-479B-8D17-75E4C7E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D7A24-A2CF-491B-AD72-436D1C7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314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Eine neue Modellversion kann andere Fehler machen als ihre Vorgängerin.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6AEBC-2F92-4B89-B899-85B2C44F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2858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Für ein Audit müssen Version, geprüfte Beispiele und verbleibende Lücken erkennbar bleiben. Eine Selbstaussage des Systems ersetzt diese Prüfung nicht.</a:t>
            </a:r>
          </a:p>
        </p:txBody>
      </p:sp>
    </p:spTree>
    <p:extLst>
      <p:ext uri="{BB962C8B-B14F-4D97-AF65-F5344CB8AC3E}">
        <p14:creationId xmlns:p14="http://schemas.microsoft.com/office/powerpoint/2010/main" val="1236522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84DDA-72BC-4510-87CC-C20033C5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ANWENDUNG MIT BESONDEREM SCHUTZBEDARF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0F2DE-E4D5-43C6-8EDC-8A1FB7FD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Kinder als besonders schutzbedürftige Betroffene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DC5A6-4929-4F57-836E-D5FC6E01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F30D9-197B-4490-BEBF-1B092C14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892B-3E82-4B32-AD6B-FAFED24F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EB15-C481-4DFB-BFEA-1F611BBB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D9E43-3CE2-4B71-88BA-30E244F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Körperliche Sicherheit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92194-0FA8-4C8C-B44D-7091FC3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Berührung, Absturz, Akku und zugängliche Teile brauchen eigene Nachweise.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E1A9F-4BCD-4D26-80E8-A37CF673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621BC-4B9A-4336-A396-C39AB827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Privatsphäre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ECEDF-E933-405E-9CAC-2E2FEE6F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Aufnahmen des Kindes und unbeteiligter Personen benötigen klare Grenzen.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7F100-36BC-4E54-8DFC-8A207FF8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4A6BA-66A2-40E0-BD9B-C61A882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Verständlichkeit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C05E8-CCF0-4690-8017-DF94726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1586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415865"/>
                </a:solidFill>
                <a:latin typeface="Arial"/>
                <a:ea typeface="Arial"/>
                <a:cs typeface="Arial"/>
              </a:rPr>
              <a:t>Vertrautes Verhalten darf einem Kind keine unbelegte Sicherheit vermitteln.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AFB10-82D6-4B3A-96F3-E989506B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Dies sind Prüfgegenstände. Eine Zulassung oder Produktsicherheitsbewertung liegt nicht vor.</a:t>
            </a:r>
          </a:p>
        </p:txBody>
      </p:sp>
    </p:spTree>
    <p:extLst>
      <p:ext uri="{BB962C8B-B14F-4D97-AF65-F5344CB8AC3E}">
        <p14:creationId xmlns:p14="http://schemas.microsoft.com/office/powerpoint/2010/main" val="2719514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1465C-B296-4028-AA9D-BF9EE04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CBF29-3543-44ED-AA09-EA8DD3D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Beobachtung braucht begrenzte Daten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26DEC-9815-4137-A441-E2159154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BD096-977F-4B0C-AB02-BF83A62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7FFFF-6E00-428F-90F4-E60CAFAA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4A1F-1563-4415-A5D7-67550BAB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285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Welche Information braucht der jeweilige Zweck wirklich?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DA70-E333-497A-8501-B5EDA30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285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 nachvollziehbares Konzept erklärt Erfassung, Zugriff und Löschung. Es trennt den persönlichen Begleiter vom dauerhaften Archiv über andere Menschen.</a:t>
            </a:r>
          </a:p>
        </p:txBody>
      </p:sp>
    </p:spTree>
    <p:extLst>
      <p:ext uri="{BB962C8B-B14F-4D97-AF65-F5344CB8AC3E}">
        <p14:creationId xmlns:p14="http://schemas.microsoft.com/office/powerpoint/2010/main" val="6114790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ECC6D-0FF1-41B0-92DF-152152A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ABHÄNGIGKEITEN IM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5214A-A51A-4CC1-8F34-FBF4EC6E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Gemeinsame Quellen verbinden Fehler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F5D5C-AFEE-4CC5-8347-A1AF281E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7BC8C-3187-4CA9-A349-18968581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11CE1-30FC-40FC-A5E6-0240FEC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A6F72-D305-4B45-AEBE-0F1BB4C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82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382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Zehn Ausgaben desselben Modells können denselben Irrtum wiederholen.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9D37A-75C6-47B3-AA89-215271B6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285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Ein Review muss gemeinsame Modelle, Daten und Nachrichtenursprünge offenlegen. Verschiedene Gerätenamen allein belegen keine Unabhängigkeit.</a:t>
            </a:r>
          </a:p>
        </p:txBody>
      </p:sp>
    </p:spTree>
    <p:extLst>
      <p:ext uri="{BB962C8B-B14F-4D97-AF65-F5344CB8AC3E}">
        <p14:creationId xmlns:p14="http://schemas.microsoft.com/office/powerpoint/2010/main" val="6997540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BA55A-5CDE-4059-8D2F-CF1E9C21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TATSÄCHLICHER LOKALER FORSCHUNGSSTAND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B46F5-37E9-4AD4-AE46-BE4AAF1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Der vorhandene grafische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EAB88-1B62-424D-9626-58942CA3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23E80-21E6-4C5A-8D8A-632B79F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55F6D-71C4-47A2-97B9-244099C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C8715-FEEA-4C68-BE51-F91F3A39C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69e6a08ab449f"/>
          <a:stretch xmlns:a="http://schemas.openxmlformats.org/drawingml/2006/main"/>
        </p:blipFill>
        <p:spPr>
          <a:xfrm xmlns:a="http://schemas.openxmlformats.org/drawingml/2006/main">
            <a:off x="2293405" y="2619375"/>
            <a:ext cx="398569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56615-341A-432F-BF31-E6BF78C3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571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Synthetische Aufmerksamkeit</a:t>
            </a:r>
          </a:p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Herkunftsübersicht</a:t>
            </a:r>
          </a:p>
          <a:p xmlns:a="http://schemas.openxmlformats.org/drawingml/2006/main">
            <a:pPr>
              <a:defRPr sz="26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72 grafische Bewegungszustände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31C11-FDF1-42B9-9CC4-DAAD4DF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721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Keine reale Sensoranbindung.</a:t>
            </a:r>
          </a:p>
          <a:p xmlns:a="http://schemas.openxmlformats.org/drawingml/2006/main">
            <a:pPr>
              <a:defRPr sz="21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Individuelle Informationsgeschichten</a:t>
            </a:r>
          </a:p>
          <a:p xmlns:a="http://schemas.openxmlformats.org/drawingml/2006/main">
            <a:pPr>
              <a:defRPr sz="21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sind bislang nicht umgesetzt.</a:t>
            </a:r>
          </a:p>
        </p:txBody>
      </p:sp>
    </p:spTree>
    <p:extLst>
      <p:ext uri="{BB962C8B-B14F-4D97-AF65-F5344CB8AC3E}">
        <p14:creationId xmlns:p14="http://schemas.microsoft.com/office/powerpoint/2010/main" val="15556052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51504-97F7-4266-853A-8AD8C47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BESTEHENDE MESSUNG · 30 SEKUNDEN BEI 60 HZ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8E329-C405-4DCD-B145-6F8765BC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Ruhigerer Fokus im synthetischen Vergleich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142AB-9F18-4E2A-9E75-7FC27CCF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C6658-46B8-4C03-87F2-52AF8D5E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FCCC5-A63E-42F5-95E0-C80756D5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47577-EF30-4D44-996F-F1E2A14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650" b="1">
                <a:solidFill>
                  <a:srgbClr val="9B55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650" b="1">
                <a:solidFill>
                  <a:srgbClr val="9B552C"/>
                </a:solidFill>
                <a:latin typeface="Arial"/>
                <a:ea typeface="Arial"/>
                <a:cs typeface="Arial"/>
              </a:defRPr>
            </a:pPr>
            <a:r>
              <a:rPr sz="10650" b="1">
                <a:solidFill>
                  <a:srgbClr val="9B552C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07DEA-F662-4EA1-8D94-944DC49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Fokuswechsel bei direkter Auswahl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5C920-7E1F-4EBF-9A25-1FBE417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571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65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650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10650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51173-D2A3-41C2-8B2C-C77E27BE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Fokuswechsel im integrierenden Modell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0442C-BFF6-4546-ACF5-E3F55395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Eine synthetische Spur. Gezählt: nur Wechsel zwischen gewählten Zuständen. Weniger Wechsel belegen keine Richtigkeit.</a:t>
            </a:r>
          </a:p>
        </p:txBody>
      </p:sp>
    </p:spTree>
    <p:extLst>
      <p:ext uri="{BB962C8B-B14F-4D97-AF65-F5344CB8AC3E}">
        <p14:creationId xmlns:p14="http://schemas.microsoft.com/office/powerpoint/2010/main" val="10180714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B1FF1-ADC5-4E62-9698-EF84D4F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WAS DER VERSUCH NICHT ISOLIERT 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87237-9037-4986-B4D2-DF93FDD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Der Gegenvergleich begrenzt die Aussage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DBD7F-7DEE-4EBF-8F58-B65FC9D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622A6-F619-44A3-BAEC-C89C8747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719A5-87B8-4D6B-8463-981C8970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B9FA6-CE3D-40A7-BCA2-D76DDF9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Auch ohne konkurrierende Hemmung ergab derselbe Test null Fokuswechsel.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2A4F6-F09D-4DE4-A2FF-7E29E4A9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85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 zusätzlicher Nutzen dieser Hemmung ist damit offen. Auch mögliche Verzögerungen brauchen einen eigenen Vergleich. Eine ruhige Anzeige beweist keine richtige Einschätzung.</a:t>
            </a:r>
          </a:p>
        </p:txBody>
      </p:sp>
    </p:spTree>
    <p:extLst>
      <p:ext uri="{BB962C8B-B14F-4D97-AF65-F5344CB8AC3E}">
        <p14:creationId xmlns:p14="http://schemas.microsoft.com/office/powerpoint/2010/main" val="4501644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8E503-B347-483D-B4AC-DC40750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PRÜFSTAND UND SEINE GRENZEN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48E30-C74B-44ED-9C7A-3451E176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Softwaretests prüfen festgelegte Eigenschaften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AE902-53E2-4348-AEA6-E04F2FB9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E27F7-3A0D-4055-9027-EE1BA696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71290-C927-4B19-B2C4-DA4FFDF6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4252D-DEF1-4233-9CC4-C53C896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275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275" b="1">
                <a:solidFill>
                  <a:srgbClr val="147B76"/>
                </a:solidFill>
                <a:latin typeface="Arial"/>
                <a:ea typeface="Arial"/>
                <a:cs typeface="Arial"/>
              </a:defRPr>
            </a:pPr>
            <a:r>
              <a:rPr sz="10275" b="1">
                <a:solidFill>
                  <a:srgbClr val="147B76"/>
                </a:solidFill>
                <a:latin typeface="Arial"/>
                <a:ea typeface="Arial"/>
                <a:cs typeface="Arial"/>
              </a:rPr>
              <a:t>66 / 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DAECF-92CA-4025-9A08-7E9CA111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285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Vorher protokollierte lokale Tests bestanden. Sie prüfen synthetische Eingaben und vorab festgelegte Eigenschaften des vorhandenen Codes.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CF70C-02E7-4A5F-87E2-C09A21B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Keine Feldstudie, keine Personensicherheitsprüfung und keine behördliche Anerkennung.</a:t>
            </a:r>
          </a:p>
        </p:txBody>
      </p:sp>
    </p:spTree>
    <p:extLst>
      <p:ext uri="{BB962C8B-B14F-4D97-AF65-F5344CB8AC3E}">
        <p14:creationId xmlns:p14="http://schemas.microsoft.com/office/powerpoint/2010/main" val="16790158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FCD8D-86CB-4210-A1A0-A55B946D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KONZEPT UND PRÜFFRAGEN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42781-6C9C-451B-A017-3129BA4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Ein fachliches Review braucht Gegenbeispiele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2838E-FF93-494B-9D47-82F248A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48CF6-A896-4719-98EF-107FE41E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E46EB-E5B4-46CC-9DA8-431F75B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67457-9A54-4B4B-A6A9-4BA9A248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AB690-7FD5-4A67-A73D-B3F42435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Wiederholung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FF73B-CC0E-4843-B878-8A68D5ED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Dieselbe Quelle erscheint mehrfach. Erkennt die Darstellung die Abhängigkeit?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F5781-2420-4EF5-96EB-EE37427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D9D98-D4E5-424B-8A4A-12869643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Widerspruch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4C3BF-844B-4EB5-80F3-156F381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Zwei Informationen passen nicht zusammen. Bleibt der Konflikt sichtbar?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53404-563B-4C14-812F-2BD6A342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2B09E-6244-4C94-A241-5F8DF0C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Lücke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0D60-2413-4DC5-89A0-6B69FE6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1487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Eine Information fehlt oder ist alt. Bleibt der offene Stand erkennbar?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04B88-A26E-45AA-AFE9-AE4AB323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Vorgeschlagene Auditfragen. Für den neuen GUARDIAN-Konzeptumfang noch keine Testresultate.</a:t>
            </a:r>
          </a:p>
        </p:txBody>
      </p:sp>
    </p:spTree>
    <p:extLst>
      <p:ext uri="{BB962C8B-B14F-4D97-AF65-F5344CB8AC3E}">
        <p14:creationId xmlns:p14="http://schemas.microsoft.com/office/powerpoint/2010/main" val="13063110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DE3DB-A583-43CA-B0D9-0334A570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6572"/>
                </a:solidFill>
                <a:latin typeface="Arial"/>
                <a:ea typeface="Arial"/>
                <a:cs typeface="Arial"/>
              </a:rPr>
              <a:t>QUELLEN UND EIGENE BEITRÄGE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3702E-A09A-41F8-87CA-15D0429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152C39"/>
                </a:solidFill>
                <a:latin typeface="Arial"/>
                <a:ea typeface="Arial"/>
                <a:cs typeface="Arial"/>
              </a:rPr>
              <a:t>Einordnung in bestehende Forschung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0FA01-5D9C-4FAD-9780-31DE32D0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9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32A7F-003A-4E6A-BB36-A468D381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960B0-7F9D-4B99-9F41-AEDB0C08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07415-85E6-48C3-8438-9DAAE4B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NIST AI RMF: freiwilliger Rahmen zum Umgang mit KI-Risiken</a:t>
            </a:r>
          </a:p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nist.gov/itl/ai-risk-management-framework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A8FC5-CEC8-4C92-8220-0A31C60B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285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IKRK: Position zu Grenzen und Verboten autonomer Waffensysteme</a:t>
            </a:r>
          </a:p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icrc.org/en/document/icrc-position-autonomous-weapon-systems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9684C-BBFA-45F6-8B41-48CE880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285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Seeley et al., Science 2012: biologische Ausgangsfrage des Labors</a:t>
            </a:r>
          </a:p>
          <a:p xmlns:a="http://schemas.openxmlformats.org/drawingml/2006/main">
            <a:pPr>
              <a:defRPr sz="2250" b="0">
                <a:solidFill>
                  <a:srgbClr val="152C3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C39"/>
                </a:solidFill>
                <a:latin typeface="Arial"/>
                <a:ea typeface="Arial"/>
                <a:cs typeface="Arial"/>
              </a:rPr>
              <a:t>doi.org/10.1126/science.1210361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38873-B27B-470D-8115-9F1DE7A4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E65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572"/>
                </a:solidFill>
                <a:latin typeface="Arial"/>
                <a:ea typeface="Arial"/>
                <a:cs typeface="Arial"/>
              </a:rPr>
              <a:t>Die Quellen sind keine Zertifizierung oder Bestätigung dieses Projekts.</a:t>
            </a:r>
          </a:p>
        </p:txBody>
      </p:sp>
    </p:spTree>
    <p:extLst>
      <p:ext uri="{BB962C8B-B14F-4D97-AF65-F5344CB8AC3E}">
        <p14:creationId xmlns:p14="http://schemas.microsoft.com/office/powerpoint/2010/main" val="767835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9997D-6A59-4584-A4F3-F9112591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VERSIONIERTE KONZEPTFASSUNG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BAE8E-B645-49AA-9EFF-695048EA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Öffentliche Nachvollziehbarkeit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19344-C9A9-4688-955B-19DCACD2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BEA6E-8DB2-4E3B-9397-B452E2D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60547-6020-4E43-B003-3550CF94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B7FCD-9AA2-4961-9ED3-F320FF0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Eine lesbare Konzeptfassung und ein klar bezeichneter Forschungsstand gehören zusammen.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A9126-D98E-418D-A673-FF44575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285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Vorgesehener Ort:</a:t>
            </a:r>
          </a:p>
          <a:p xmlns:a="http://schemas.openxmlformats.org/drawingml/2006/main">
            <a:pPr>
              <a:defRPr sz="24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github.com/Juri-Halveth/open-research-branches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9C08B-DF67-4A38-A158-30BBA83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Der zugehörige README nennt Veröffentlichungsstand, Dateiversionen und die geltende Lizenz.</a:t>
            </a:r>
          </a:p>
        </p:txBody>
      </p:sp>
    </p:spTree>
    <p:extLst>
      <p:ext uri="{BB962C8B-B14F-4D97-AF65-F5344CB8AC3E}">
        <p14:creationId xmlns:p14="http://schemas.microsoft.com/office/powerpoint/2010/main" val="2135761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0AF58-EA8D-47F1-B62D-9359E80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1266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KONTAKT UND ERBETENE RÜCKMELDUNG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99CF4-0AD2-4023-ACD3-9D9C3AE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28700"/>
            <a:ext cx="1343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Einladung zur unabhängigen Bewertung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249E3-7212-4905-88D3-D4CD938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62875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1B3A5-6D9D-429D-BFDF-4FDE798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914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JURI / HALVETH     LUCINET 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F5324-EF10-4984-AB6F-D02DBB9F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7962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F8D37-8C83-4270-A222-08E0C0D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2858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Gibt es fachliches Interesse an dieser Forschungsfrage und an einem unabhängigen Review des begrenzten Piloten?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3A98E-8A5E-4DC5-A36A-CD62BF60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85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Juri / HALVETH</a:t>
            </a:r>
          </a:p>
          <a:p xmlns:a="http://schemas.openxmlformats.org/drawingml/2006/main">
            <a:pPr>
              <a:defRPr sz="3075" b="1">
                <a:solidFill>
                  <a:srgbClr val="5DE0C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5DE0CD"/>
                </a:solidFill>
                <a:latin typeface="Arial"/>
                <a:ea typeface="Arial"/>
                <a:cs typeface="Arial"/>
              </a:rPr>
              <a:t>Kontakt über das GitHub-Forschungsrepository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4904D-CAFE-445C-A445-41AEAD56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0485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8BC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CC7"/>
                </a:solidFill>
                <a:latin typeface="Arial"/>
                <a:ea typeface="Arial"/>
                <a:cs typeface="Arial"/>
              </a:rPr>
              <a:t>Erbeten: Rückmeldung zur Zuständigkeit sowie Namensnennung und Danksagung bei tatsächlicher Verwendung.</a:t>
            </a:r>
          </a:p>
        </p:txBody>
      </p:sp>
    </p:spTree>
    <p:extLst>
      <p:ext uri="{BB962C8B-B14F-4D97-AF65-F5344CB8AC3E}">
        <p14:creationId xmlns:p14="http://schemas.microsoft.com/office/powerpoint/2010/main" val="2123993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2026-10-17T00:04:00.6840000Z</dcterms:created>
  <dcterms:modified xsi:type="dcterms:W3CDTF">2026-10-17T00:04:00.6840000Z</dcterms:modified>
</coreProperties>
</file>